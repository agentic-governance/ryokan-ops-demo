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10億USD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0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AAB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ホテルPMS</c:v>
                  </c:pt>
                  <c:pt idx="1">
                    <c:v>チャネル管理</c:v>
                  </c:pt>
                  <c:pt idx="2">
                    <c:v>料金最適化(狭義)</c:v>
                  </c:pt>
                  <c:pt idx="3">
                    <c:v>ホテル管理ソフト</c:v>
                  </c:pt>
                  <c:pt idx="4">
                    <c:v>我々SAM(中央)</c:v>
                  </c:pt>
                  <c:pt idx="5">
                    <c:v>我々コアTAM(中央)</c:v>
                  </c:pt>
                  <c:pt idx="6">
                    <c:v>AI×観光(広義・天井)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0.4</c:v>
                </c:pt>
                <c:pt idx="2">
                  <c:v>2.1</c:v>
                </c:pt>
                <c:pt idx="3">
                  <c:v>4.2</c:v>
                </c:pt>
                <c:pt idx="4">
                  <c:v>5</c:v>
                </c:pt>
                <c:pt idx="5">
                  <c:v>8.8</c:v>
                </c:pt>
                <c:pt idx="6">
                  <c:v>20.4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0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0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10億USD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0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20.4</c:v>
                </c:pt>
                <c:pt idx="1">
                  <c:v>26.5</c:v>
                </c:pt>
                <c:pt idx="2">
                  <c:v>75.7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0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0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億円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0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AA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TAM(中央)</c:v>
                  </c:pt>
                  <c:pt idx="1">
                    <c:v>隣接DX市場(参照)</c:v>
                  </c:pt>
                  <c:pt idx="2">
                    <c:v>対象コアSAM(中央)</c:v>
                  </c:pt>
                  <c:pt idx="3">
                    <c:v>初期SOM(中央)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713</c:v>
                </c:pt>
                <c:pt idx="1">
                  <c:v>429</c:v>
                </c:pt>
                <c:pt idx="2">
                  <c:v>290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0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0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万人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0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AA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3188</c:v>
                </c:pt>
                <c:pt idx="1">
                  <c:v>2507</c:v>
                </c:pt>
                <c:pt idx="2">
                  <c:v>3687</c:v>
                </c:pt>
                <c:pt idx="3">
                  <c:v>4268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0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0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兆円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0"/>
                    </a:solidFill>
                    <a:latin typeface="Hiragin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AA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5.3</c:v>
                </c:pt>
                <c:pt idx="2">
                  <c:v>8.1</c:v>
                </c:pt>
                <c:pt idx="3">
                  <c:v>9.46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0"/>
                  </a:solidFill>
                  <a:latin typeface="Hiragin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0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gentic-governance.github.io/ryokan-ops-demo/screen_approvals.html" TargetMode="External"/><Relationship Id="rId4" Type="http://schemas.openxmlformats.org/officeDocument/2006/relationships/hyperlink" Target="https://agentic-governance.github.io/ryokan-ops-demo/screen_meals.html" TargetMode="External"/><Relationship Id="rId5" Type="http://schemas.openxmlformats.org/officeDocument/2006/relationships/hyperlink" Target="https://agentic-governance.github.io/ryokan-ops-demo/" TargetMode="Externa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POSITIONING ｜ 立ち位置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基幹システムを“置換”せず、現場判断・AI・承認の仕組みを“上に”載せる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703320" cy="475488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一言で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48256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基幹システム会社の競合ではありません。</a:t>
            </a:r>
            <a:endParaRPr lang="en-US" sz="1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2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予約・会計・顧客の元データは基幹システムに残したまま、現場判断・AI 提案・承認の仕組み・部門連携を上に載せる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提携の仕組みです。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54864" cy="10789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「AI を主語にしない。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営業日・会計明細・部屋状態・承認権限を主語にする。」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3154680" cy="12802"/>
          </a:xfrm>
          <a:prstGeom prst="rect">
            <a:avLst/>
          </a:prstGeom>
          <a:solidFill>
            <a:srgbClr val="3A507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596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FC0D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 11 ＋ モバイル 11 画面 ／ 5 役割対応 ／ 業界標準のデータ項目に準拠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62272" y="1554480"/>
            <a:ext cx="365760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6048" y="15179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元データの正しさを守る仕組み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56048" y="1810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料金・返金・在庫・顧客の書き込みは人間承認後のみ実行します。「AI が勝手に基幹システムを触る」不安を構造で解消します。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1700784"/>
            <a:ext cx="2011680" cy="42062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17007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承認待ち一覧＋操作記録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62272" y="2432304"/>
            <a:ext cx="7242048" cy="10973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22" name="Shape 20"/>
          <p:cNvSpPr/>
          <p:nvPr/>
        </p:nvSpPr>
        <p:spPr>
          <a:xfrm>
            <a:off x="4462272" y="2505456"/>
            <a:ext cx="365760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62272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468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旅館らしさの実装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956048" y="2761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客室在庫でなく“食事の提供能力”が販売室数を決めます。汎用の基幹システムが描けない旅館固有の運用を実装します。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92640" y="2651760"/>
            <a:ext cx="2011680" cy="42062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27" name="Text 25"/>
          <p:cNvSpPr/>
          <p:nvPr/>
        </p:nvSpPr>
        <p:spPr>
          <a:xfrm>
            <a:off x="9692640" y="2651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人泊2食・入湯税・布団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62272" y="3383280"/>
            <a:ext cx="7242048" cy="10973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29" name="Shape 27"/>
          <p:cNvSpPr/>
          <p:nvPr/>
        </p:nvSpPr>
        <p:spPr>
          <a:xfrm>
            <a:off x="4462272" y="3456432"/>
            <a:ext cx="365760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30" name="Text 28"/>
          <p:cNvSpPr/>
          <p:nvPr/>
        </p:nvSpPr>
        <p:spPr>
          <a:xfrm>
            <a:off x="4462272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3419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故障の前に動く予知保全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956048" y="3712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止まると営業・安全に直結する設備（温泉・給湯・空調・電気）を状態監視で見守り、予兆段階で手を打ちます。レジオネラや客室の販売停止を未然に防ぎます。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92640" y="3602736"/>
            <a:ext cx="2011680" cy="42062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0" y="36027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状態監視で予知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62272" y="4334256"/>
            <a:ext cx="7242048" cy="10973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36" name="Shape 34"/>
          <p:cNvSpPr/>
          <p:nvPr/>
        </p:nvSpPr>
        <p:spPr>
          <a:xfrm>
            <a:off x="4462272" y="4407408"/>
            <a:ext cx="365760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37" name="Text 35"/>
          <p:cNvSpPr/>
          <p:nvPr/>
        </p:nvSpPr>
        <p:spPr>
          <a:xfrm>
            <a:off x="446227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56048" y="43708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需要を先読むマーケティング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956048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観光メディアと経済統計データから需要を 3–6 ヶ月先に読み、承認付きで自律実行します。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92640" y="4553712"/>
            <a:ext cx="2011680" cy="42062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41" name="Text 39"/>
          <p:cNvSpPr/>
          <p:nvPr/>
        </p:nvSpPr>
        <p:spPr>
          <a:xfrm>
            <a:off x="9692640" y="45537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メディア＋経済データ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62272" y="5285232"/>
            <a:ext cx="7242048" cy="10973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43" name="Shape 41"/>
          <p:cNvSpPr/>
          <p:nvPr/>
        </p:nvSpPr>
        <p:spPr>
          <a:xfrm>
            <a:off x="4462272" y="5358384"/>
            <a:ext cx="365760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44" name="Text 42"/>
          <p:cNvSpPr/>
          <p:nvPr/>
        </p:nvSpPr>
        <p:spPr>
          <a:xfrm>
            <a:off x="4462272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56048" y="53218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全役割が毎シフト使う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956048" y="5614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フロント／客室係／仲居／会計／支配人の役割別 UI で、現場が片手で迷わず処理できます。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692640" y="5504688"/>
            <a:ext cx="2011680" cy="420624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48" name="Text 46"/>
          <p:cNvSpPr/>
          <p:nvPr/>
        </p:nvSpPr>
        <p:spPr>
          <a:xfrm>
            <a:off x="9692640" y="55046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PC11＋モバイル11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HOW IT WORKS ｜ 仕組み（承認後だけ書き込む）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は読み取り・提案まで自律、書き込みは人間承認後だけ実行する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61518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54480"/>
            <a:ext cx="2615184" cy="438912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" y="1636776"/>
            <a:ext cx="274320" cy="274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6459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読み取り・提案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" y="2121408"/>
            <a:ext cx="1005840" cy="219456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" y="2121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" y="252374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空室・予約・在庫・申し送りを横断で読む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" y="302666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差分説明・部門間調整・施策を提案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" y="352958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474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旅券/決済等の個人情報は渡さず要約のみ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99816" y="26334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60420" y="1554480"/>
            <a:ext cx="261518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0420" y="1554480"/>
            <a:ext cx="2615184" cy="438912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0148" y="1636776"/>
            <a:ext cx="274320" cy="274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347014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17620" y="16459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承認待ち一覧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506724" y="2121408"/>
            <a:ext cx="100584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3506724" y="2121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承認必須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25012" y="252374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43884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種別・金額影響・対象の会計明細を提示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5012" y="302666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3643884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権限／金額の上限／自己承認禁止を判定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25012" y="352958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3643884" y="3474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変更前→変更後の差分と理由コード必須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57316" y="26334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554480"/>
            <a:ext cx="261518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1554480"/>
            <a:ext cx="2615184" cy="438912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7648" y="1636776"/>
            <a:ext cx="274320" cy="274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16459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承認後のみ書き込み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64224" y="2121408"/>
            <a:ext cx="100584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2121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82512" y="252374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6501384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承認トークン＋重複防止キーで実行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82512" y="302666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6" name="Text 44"/>
          <p:cNvSpPr/>
          <p:nvPr/>
        </p:nvSpPr>
        <p:spPr>
          <a:xfrm>
            <a:off x="6501384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自社の外部連携窓口を経由・予約サイト直結なし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82512" y="352958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6501384" y="3474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実行直前に再読み込み→不一致なら失効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814816" y="26334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075420" y="1554480"/>
            <a:ext cx="2615184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75420" y="1554480"/>
            <a:ext cx="2615184" cy="438912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52" name="Shape 50"/>
          <p:cNvSpPr/>
          <p:nvPr/>
        </p:nvSpPr>
        <p:spPr>
          <a:xfrm>
            <a:off x="9185148" y="1636776"/>
            <a:ext cx="274320" cy="274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3" name="Text 51"/>
          <p:cNvSpPr/>
          <p:nvPr/>
        </p:nvSpPr>
        <p:spPr>
          <a:xfrm>
            <a:off x="918514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532620" y="16459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全操作を記録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221724" y="2121408"/>
            <a:ext cx="1005840" cy="219456"/>
          </a:xfrm>
          <a:prstGeom prst="rect">
            <a:avLst/>
          </a:prstGeom>
          <a:solidFill>
            <a:srgbClr val="6B7886"/>
          </a:solidFill>
          <a:ln/>
        </p:spPr>
      </p:sp>
      <p:sp>
        <p:nvSpPr>
          <p:cNvPr id="56" name="Text 54"/>
          <p:cNvSpPr/>
          <p:nvPr/>
        </p:nvSpPr>
        <p:spPr>
          <a:xfrm>
            <a:off x="9221724" y="2121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記録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240012" y="252374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8" name="Text 56"/>
          <p:cNvSpPr/>
          <p:nvPr/>
        </p:nvSpPr>
        <p:spPr>
          <a:xfrm>
            <a:off x="9358884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誰が・いつ・どの端末(IP)で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240012" y="302666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0" name="Text 58"/>
          <p:cNvSpPr/>
          <p:nvPr/>
        </p:nvSpPr>
        <p:spPr>
          <a:xfrm>
            <a:off x="9358884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会話ID／提案／承認／応答の照合値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240012" y="3529584"/>
            <a:ext cx="4114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2" name="Text 60"/>
          <p:cNvSpPr/>
          <p:nvPr/>
        </p:nvSpPr>
        <p:spPr>
          <a:xfrm>
            <a:off x="9358884" y="3474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追記専用・連鎖照合で改ざん不可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4370832"/>
            <a:ext cx="11183112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" y="4370832"/>
            <a:ext cx="64008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5" name="Text 63"/>
          <p:cNvSpPr/>
          <p:nvPr/>
        </p:nvSpPr>
        <p:spPr>
          <a:xfrm>
            <a:off x="713232" y="453542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なぜ基幹システム会社に刺さるか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200400" y="4535424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7" name="Text 65"/>
          <p:cNvSpPr/>
          <p:nvPr/>
        </p:nvSpPr>
        <p:spPr>
          <a:xfrm>
            <a:off x="3346704" y="4535424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基幹システムの連携価値が上がる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公式連携の利用が増え、上位プランの理由になります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016752" y="4535424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9" name="Text 67"/>
          <p:cNvSpPr/>
          <p:nvPr/>
        </p:nvSpPr>
        <p:spPr>
          <a:xfrm>
            <a:off x="6163056" y="4535424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“入力されない判断”を見える化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口頭で消えていた現場判断を資産化します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833104" y="4535424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1" name="Text 69"/>
          <p:cNvSpPr/>
          <p:nvPr/>
        </p:nvSpPr>
        <p:spPr>
          <a:xfrm>
            <a:off x="8979408" y="4535424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連携の不整合を見える化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操作ミス・二重入力・同期ズレを検知します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02920" y="5779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基幹システムの元データの正しさを守るからこそ、AI を安心して現場業務に入れられます。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PRODUCT ｜ 実画面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“実際に動く”情報量の多い画面を、代表 2 画面で示す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56336" y="1453896"/>
            <a:ext cx="5129784" cy="3226689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pic>
        <p:nvPicPr>
          <p:cNvPr id="9" name="Image 0" descr="/Users/reikumaki/Desktop/piracy_detector/claude_code/mockups/shots/crop/screen_approvals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481328"/>
            <a:ext cx="5074920" cy="31718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3768" y="4698873"/>
            <a:ext cx="5074920" cy="45720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1" name="Text 8"/>
          <p:cNvSpPr/>
          <p:nvPr/>
        </p:nvSpPr>
        <p:spPr>
          <a:xfrm>
            <a:off x="1030072" y="4726305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承認待ち一覧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C7D3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金額・在庫・顧客の変更を、承認・権限・操作記録で管理します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05576" y="1453896"/>
            <a:ext cx="5129784" cy="3226689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pic>
        <p:nvPicPr>
          <p:cNvPr id="13" name="Image 1" descr="/Users/reikumaki/Desktop/piracy_detector/claude_code/mockups/shots/crop/screen_meals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481328"/>
            <a:ext cx="5074920" cy="31718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33008" y="4698873"/>
            <a:ext cx="5074920" cy="45720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5" name="Text 11"/>
          <p:cNvSpPr/>
          <p:nvPr/>
        </p:nvSpPr>
        <p:spPr>
          <a:xfrm>
            <a:off x="6379312" y="4726305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食事管理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C7D3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“食事の提供能力”が客室の販売数を決める、旅館の核心です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5212080" cy="1207008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52486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u="sng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  <a:hlinkClick r:id="rId5" invalidUrl="" action="" tgtFrame="" tooltip="全23画面のデモを開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ライブデモを開く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D3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ブラウザで全 23 画面（PC 11 ＋ モバイル 11）を実際に操作できます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" y="59801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クリックで公開デモを開きます（PC・スマホのブラウザから閲覧できます）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943600" y="5029200"/>
            <a:ext cx="5742432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5138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そのほかの画面（全 23 画面）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5458968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54132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ダッシュボード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915400" y="5458968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0"/>
          <p:cNvSpPr/>
          <p:nvPr/>
        </p:nvSpPr>
        <p:spPr>
          <a:xfrm>
            <a:off x="9025128" y="54132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客室管理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26480" y="5614416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2"/>
          <p:cNvSpPr/>
          <p:nvPr/>
        </p:nvSpPr>
        <p:spPr>
          <a:xfrm>
            <a:off x="6236208" y="556869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予約管理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915400" y="5614416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4"/>
          <p:cNvSpPr/>
          <p:nvPr/>
        </p:nvSpPr>
        <p:spPr>
          <a:xfrm>
            <a:off x="9025128" y="556869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ゲスト管理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126480" y="5769864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6"/>
          <p:cNvSpPr/>
          <p:nvPr/>
        </p:nvSpPr>
        <p:spPr>
          <a:xfrm>
            <a:off x="6236208" y="57241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設備保全（予知保全）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8915400" y="5769864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28"/>
          <p:cNvSpPr/>
          <p:nvPr/>
        </p:nvSpPr>
        <p:spPr>
          <a:xfrm>
            <a:off x="9025128" y="57241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マーケティング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126480" y="5925312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0"/>
          <p:cNvSpPr/>
          <p:nvPr/>
        </p:nvSpPr>
        <p:spPr>
          <a:xfrm>
            <a:off x="6236208" y="5879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レポート（会計）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915400" y="5925312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2"/>
          <p:cNvSpPr/>
          <p:nvPr/>
        </p:nvSpPr>
        <p:spPr>
          <a:xfrm>
            <a:off x="9025128" y="5879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基幹システム⇄予約サイト一元管理⇄ネット予約サイト 連携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126480" y="6080760"/>
            <a:ext cx="36576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4"/>
          <p:cNvSpPr/>
          <p:nvPr/>
        </p:nvSpPr>
        <p:spPr>
          <a:xfrm>
            <a:off x="6236208" y="6035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モバイル：役割別 11 画面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ARCHITECTURE ｜ 確定した構成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組み合わせ構成 — 判断は AI の実行基盤、書き込みは承認後のみ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83112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44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利用端末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444752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508760"/>
            <a:ext cx="2496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Web画面（PC）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フロント／予約／会計／承認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44752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508760"/>
            <a:ext cx="2496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モバイル（現場）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客室係／仲居／支配人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20116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075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暗号化通信 / スタッフのログイン・施設ごとの区分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11183112" cy="2286000"/>
          </a:xfrm>
          <a:prstGeom prst="rect">
            <a:avLst/>
          </a:prstGeom>
          <a:solidFill>
            <a:srgbClr val="ECF2F8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505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自社の管理基盤 ｜ 🇯🇵 日本国内に保管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95360" y="2432304"/>
            <a:ext cx="1325880" cy="219456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読み取り = 自律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012680" y="2432304"/>
            <a:ext cx="150876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2680" y="24323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書き込み = 承認後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2423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743200"/>
            <a:ext cx="64008" cy="17373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" y="2852928"/>
            <a:ext cx="21854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の判断エンジン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判断・提案を生成します。読み取りは自律で行います。書き込み機能は持たず、提案のみです。記憶の保持・要約は標準装備です。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9077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11880" y="2743200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281635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読み取り窓口（自社）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 / 予約サイト一元管理 / 社内業務 / 外部データ（メディア・経済）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8404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11880" y="361188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3611880"/>
            <a:ext cx="64008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3758184" y="3694176"/>
            <a:ext cx="21396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承認の仕組み＋ルール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権限・金額の上限・自己承認禁止・変更前/変更後の差分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38404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3611880"/>
            <a:ext cx="2148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611880"/>
            <a:ext cx="64008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694176"/>
            <a:ext cx="19110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書き込み実行部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承認トークン＋重複防止キーで公式連携を実行します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32520" y="27432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42248" y="2852928"/>
            <a:ext cx="24963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操作記録 / 秘密情報金庫 / 名簿</a:t>
            </a:r>
            <a:endParaRPr lang="en-US" sz="10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操作記録(追記専用・改ざん不可)／秘密情報の保管庫／宿泊者名簿(個人情報の境界・伏せ字)。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97880" y="46177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46817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公式連携／在庫の送信・予約の取得／システムからの通知↑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4956048"/>
            <a:ext cx="11183112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5029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外部システム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" y="5248656"/>
            <a:ext cx="25786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5276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OPERA（基幹システム／元データ）</a:t>
            </a:r>
            <a:endParaRPr lang="en-US" sz="9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公式連携（取得・通知）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74136" y="5248656"/>
            <a:ext cx="25786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83864" y="5276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予約サイト一元管理</a:t>
            </a:r>
            <a:endParaRPr lang="en-US" sz="9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手間いらず/TLリンカーン(配信)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9904" y="5248656"/>
            <a:ext cx="25786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5276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ネット予約サイト・公式予約</a:t>
            </a:r>
            <a:endParaRPr lang="en-US" sz="9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楽天/じゃらん/Booking/直販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05672" y="5248656"/>
            <a:ext cx="25786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15400" y="5276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外部データ連携</a:t>
            </a:r>
            <a:endParaRPr lang="en-US" sz="9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観光メディア・SNS・予約サイト価格・経済統計(日次)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" y="58704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確定 ▸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D1 組み合わせ構成 ｜ D2 自社の外部連携窓口 ｜ D3 個人情報の伏せ字（名簿=日本国内）｜ D4 基幹システム=元データ/予約サイト一元管理=配信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PLATFORM ｜ 需要を先読むデータ基盤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外部データを束ね、需要を“先”に読む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7512" y="11612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観光メディア・SNS・予約サイト価格・経済統計を日次で取り込み、マーケティングと経営判断の土台にします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5486400" cy="420624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15727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観光メディア収集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2048256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世界の観光関連メディア／SNS／ネット予約サイト を横断でモニタリングします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" y="2359152"/>
            <a:ext cx="41148" cy="41148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30428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カ国の主要メディア 1,100+ 情報源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" y="2596896"/>
            <a:ext cx="41148" cy="41148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54203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主要 SNS 4 ／ 主要 予約サイト 8（価格・在庫・口コミ）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2834640"/>
            <a:ext cx="41148" cy="41148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77977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累計 1,946 万件 ・ 日次更新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1572768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572768"/>
            <a:ext cx="5486400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15727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経済統計の取り込み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2048256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国の統計データに接続し、経済統計を一元で取得します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64224" y="2359152"/>
            <a:ext cx="41148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83096" y="230428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景況感・物価・GDP・観光統計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64224" y="2596896"/>
            <a:ext cx="41148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254203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地価・求人倍率・賃金・家計消費調査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64224" y="2834640"/>
            <a:ext cx="41148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83096" y="277977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需要の“地合い”を提供します（マーケティング・保全・経営の下地）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55264"/>
            <a:ext cx="64008" cy="2926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何に効くか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602736"/>
            <a:ext cx="3639312" cy="85953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602736"/>
            <a:ext cx="54864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" y="369417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マーケティング</a:t>
            </a:r>
            <a:endParaRPr lang="en-US" sz="11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予約サイト価格→料金戦略／口コミ・SNSの評価→評判と商品改善／メディアの話題→需要先読みとキャンペーン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79392" y="3602736"/>
            <a:ext cx="3639312" cy="85953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9392" y="3602736"/>
            <a:ext cx="54864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4425696" y="369417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経営判断</a:t>
            </a:r>
            <a:endParaRPr lang="en-US" sz="11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価格・投資・人員配置の“地合い”を客観データで裏づけます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55864" y="3602736"/>
            <a:ext cx="3639312" cy="85953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55864" y="3602736"/>
            <a:ext cx="54864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02168" y="369417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現場の土台</a:t>
            </a:r>
            <a:endParaRPr lang="en-US" sz="11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需要予測が在庫・保全・人員計画の前提になります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663440"/>
            <a:ext cx="64008" cy="2926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" y="4672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画面でどう出るか（マーケティング画面）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5010912"/>
            <a:ext cx="36393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5010912"/>
            <a:ext cx="54864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" y="512064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インバウンド需要リスク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42 / 100 ・台湾＋中国で 60% 集中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79392" y="5010912"/>
            <a:ext cx="36393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79392" y="5010912"/>
            <a:ext cx="54864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4443984" y="512064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メディア需要の兆し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箱根の記事量↑ ・繁体字 +41%（90日）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55864" y="5010912"/>
            <a:ext cx="36393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5864" y="5010912"/>
            <a:ext cx="54864" cy="841248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50" name="Text 48"/>
          <p:cNvSpPr/>
          <p:nvPr/>
        </p:nvSpPr>
        <p:spPr>
          <a:xfrm>
            <a:off x="8220456" y="512064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経済の地合い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円安 +3% ・賃金/消費は横ばい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▸ </a:t>
            </a:r>
            <a:pPr algn="l" indent="0" marL="0"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日次更新です。AI が需要予測・料金・キャンペーンに自動で織り込み、承認を経て実行します。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 ｜ 市場規模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世界は広義AI市場が年30%で拡大、日本は伸びしろの大きい未成熟市場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4572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4173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世界 隣接・対象市場の規模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435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単位: 10億USD / 2025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664208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263640" y="1417320"/>
            <a:ext cx="4572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6373368" y="14173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AI×ホスピタリティ&amp;観光 予測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06840" y="1435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年+30% / 単位: 10億USD</a:t>
            </a:r>
            <a:endParaRPr lang="en-US" sz="8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263640" y="1664208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3822192"/>
            <a:ext cx="4572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3"/>
          <p:cNvSpPr/>
          <p:nvPr/>
        </p:nvSpPr>
        <p:spPr>
          <a:xfrm>
            <a:off x="612648" y="38221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 市場規模（TAM→SAM→SOM）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4612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単位: 億円</a:t>
            </a:r>
            <a:endParaRPr lang="en-US" sz="80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502920" y="406908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Shape 15"/>
          <p:cNvSpPr/>
          <p:nvPr/>
        </p:nvSpPr>
        <p:spPr>
          <a:xfrm>
            <a:off x="6263640" y="3822192"/>
            <a:ext cx="4572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6"/>
          <p:cNvSpPr/>
          <p:nvPr/>
        </p:nvSpPr>
        <p:spPr>
          <a:xfrm>
            <a:off x="6373368" y="38221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訪日外客数の回復（需要の追い風）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00684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単位: 万人</a:t>
            </a:r>
            <a:endParaRPr lang="en-US" sz="800" dirty="0"/>
          </a:p>
        </p:txBody>
      </p:sp>
      <p:graphicFrame>
        <p:nvGraphicFramePr>
          <p:cNvPr id="23" name="Chart 3" descr=""/>
          <p:cNvGraphicFramePr/>
          <p:nvPr/>
        </p:nvGraphicFramePr>
        <p:xfrm>
          <a:off x="6263640" y="406908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 18"/>
          <p:cNvSpPr/>
          <p:nvPr/>
        </p:nvSpPr>
        <p:spPr>
          <a:xfrm>
            <a:off x="502920" y="6016752"/>
            <a:ext cx="11183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前提・出典: 世界TAM=1,750万室×ソフト約$500/室年（中央$8.8B、$4.0–16.0B）。SAM=到達65%×$450/室年（中央$5.0B）。初期SOM $4–180M(中央$30M)。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502920" y="6181344"/>
            <a:ext cx="11183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日本TAM=客室178万室×ソフト2–7万円/室年（中央713億円、宿泊売上6.5兆円×0.6–1.9%で検算一致）。コアSAM170–380億(中央290億)は隣接DX市場429億の内側。SOM中央8億。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502920" y="6364224"/>
            <a:ext cx="11183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TBRC/Grand View/Market Intelo（世界, 2025-26） ／ ミック経済研究所・帝国データバンク・厚労省・JNTO（日本, 2025-26）。推計はレンジで明示。詳細は market_landscape_v4。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 ｜ 成長ドライバーと逆風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人手不足とインバウンドが追い風、規制と大手寡占が逆風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4864" cy="27432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463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追い風（成長ドライバー）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68122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28800"/>
            <a:ext cx="54864" cy="71323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938528"/>
            <a:ext cx="45720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38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07008" y="190195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人手不足の深刻化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旅館・ホテルの非正社員不足は 59.0%（全51業種ワースト1位）。省人化AIの需要を押し上げ。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07008" y="237744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帝国データバンク 2025/10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2596896"/>
            <a:ext cx="68122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96896"/>
            <a:ext cx="54864" cy="71323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706624"/>
            <a:ext cx="45720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066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07008" y="267004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インバウンド過去最高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訪日 4,268万人・消費 9.46兆円（2025年・ともに過去最高）。国内旅行消費も26.8兆円。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07008" y="314553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JNTO/観光庁 2026/1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" y="3364992"/>
            <a:ext cx="68122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64992"/>
            <a:ext cx="54864" cy="71323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474720"/>
            <a:ext cx="457200" cy="219456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07008" y="34381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AIの実用化が前進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応答だけのAIから「提案→承認→実行」へ。現場オペレーションに入り始めた。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07008" y="391363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業界動向 2025-26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2920" y="4133088"/>
            <a:ext cx="68122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133088"/>
            <a:ext cx="54864" cy="71323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242816"/>
            <a:ext cx="457200" cy="219456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07008" y="42062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直販シフト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予約サイト手数料 15–30% を避け、直販で収益とデータを自社に保持する流れ。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07008" y="468172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Cloudbeds 2025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4901184"/>
            <a:ext cx="68122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01184"/>
            <a:ext cx="54864" cy="71323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5010912"/>
            <a:ext cx="457200" cy="219456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010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07008" y="497433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システム未統合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基幹システムをフル統合できている宿は 24% のみ。上位・統合AIの余地が大きい。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07008" y="544982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Starfleet Research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98080" y="1463040"/>
            <a:ext cx="54864" cy="274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7662672" y="1463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逆風（縮退ドライバー）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498080" y="1828800"/>
            <a:ext cx="42062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1828800"/>
            <a:ext cx="54864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190195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規制対応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EUのAI規制 — 透明性義務 2026/8、高リスク 2027/8。罰則 最大 €35M / 売上7%。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80960" y="239572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AI Act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98080" y="2596896"/>
            <a:ext cx="42062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2596896"/>
            <a:ext cx="54864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7680960" y="26700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大手の垂直統合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Mews（評価額$2.5B）等が買収を継続。独立ベンダーの参入余地が縮小。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80960" y="3163824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2025-26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498080" y="3364992"/>
            <a:ext cx="42062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3364992"/>
            <a:ext cx="54864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34381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地方旅館の淘汰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2025年 宿泊業の退出 267事業者（倒産89+休廃業178）、約75%が地方＝母数の純減。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80960" y="393192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帝国データバンク 2026/2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498080" y="4224528"/>
            <a:ext cx="4572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5" name="Text 53"/>
          <p:cNvSpPr/>
          <p:nvPr/>
        </p:nvSpPr>
        <p:spPr>
          <a:xfrm>
            <a:off x="7607808" y="4224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訪日旅行消費額の推移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961120" y="4242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単位: 兆円</a:t>
            </a:r>
            <a:endParaRPr lang="en-US" sz="8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7498080" y="4480560"/>
          <a:ext cx="42062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8" name="Shape 55"/>
          <p:cNvSpPr/>
          <p:nvPr/>
        </p:nvSpPr>
        <p:spPr>
          <a:xfrm>
            <a:off x="502920" y="5943600"/>
            <a:ext cx="11183112" cy="475488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59" name="Text 56"/>
          <p:cNvSpPr/>
          <p:nvPr/>
        </p:nvSpPr>
        <p:spPr>
          <a:xfrm>
            <a:off x="713232" y="5943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A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▸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構造的な追い風（人手不足・インバウンド）が需要を底上げし、逆風は『正本性を守る承認設計』がむしろ強みになります。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 ｜ 競合の全体像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「自律実行」へ進む業界で、5本柱を1つに束ねる競合は国内外にゼロ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5989320" cy="33101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Shape 7"/>
          <p:cNvSpPr/>
          <p:nvPr/>
        </p:nvSpPr>
        <p:spPr>
          <a:xfrm>
            <a:off x="3492094" y="1627632"/>
            <a:ext cx="10973" cy="3310128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3277210"/>
            <a:ext cx="5989320" cy="10973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642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全役割 運用管理 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47548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単機能 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" y="3310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← 基幹システム置換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80560" y="33101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共存（上に載せる）→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" y="184708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2242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 × 全役割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Mews / Oracle OPERA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Shiji / Cloudbeds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陣屋コネクト・星野FleBOL※内製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80460" y="184708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2242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共存 × 全役割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9224" y="3465576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2242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 × 単機能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RoomRaccoon / Little Hotelier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Otonomus（AIホテル全置換）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Arbio・Numa（短期賃貸）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80460" y="3465576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2242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共存 × 単機能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価格: IDeaS / Lighthouse / メトロ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接点: tripla / talkappi / Canary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流通: 手間いらず / SiteMinder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80460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我々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80460" y="241401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5本柱をまとめて担います（ほぼ無人地帯）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近い存在: Agentic Hospitality / Operto / dailypoint（③需要の因果・④食事が販売室数を決める点を欠く）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84848" y="1627632"/>
            <a:ext cx="54864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627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最警戒 競合 TOP5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4848" y="1938528"/>
            <a:ext cx="36576" cy="457200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24" name="Text 22"/>
          <p:cNvSpPr/>
          <p:nvPr/>
        </p:nvSpPr>
        <p:spPr>
          <a:xfrm>
            <a:off x="6912864" y="193852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 Cloudbeds</a:t>
            </a:r>
            <a:endParaRPr lang="en-US" sz="9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唯一「需要の因果を読むAI」を正面で掲げています（ただし市場内データ。我々は外部=観光の話題×経済統計）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84848" y="2487168"/>
            <a:ext cx="36576" cy="457200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26" name="Text 24"/>
          <p:cNvSpPr/>
          <p:nvPr/>
        </p:nvSpPr>
        <p:spPr>
          <a:xfrm>
            <a:off x="6912864" y="248716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 Mews</a:t>
            </a:r>
            <a:endParaRPr lang="en-US" sz="9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$300M / 評価$2.5Bの資本力で自律AI追随リスクが最大です（自社が元データを持つ＝置換型）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84848" y="3035808"/>
            <a:ext cx="36576" cy="457200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303580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 陣屋コネクト</a:t>
            </a:r>
            <a:endParaRPr lang="en-US" sz="9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国内・旅館業務に最も深い正面競合です（厨房/配膳。置換型で需要の因果・操作記録は弱い）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84848" y="3584448"/>
            <a:ext cx="36576" cy="457200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30" name="Text 28"/>
          <p:cNvSpPr/>
          <p:nvPr/>
        </p:nvSpPr>
        <p:spPr>
          <a:xfrm>
            <a:off x="6912864" y="358444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 tripla</a:t>
            </a:r>
            <a:endParaRPr lang="en-US" sz="9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日本の旅館での存在感が最強です（10,084施設・上場。承認後書き込み/需要の因果/食事が販売室数を決める対応なし）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84848" y="4133088"/>
            <a:ext cx="36576" cy="457200"/>
          </a:xfrm>
          <a:prstGeom prst="rect">
            <a:avLst/>
          </a:prstGeom>
          <a:solidFill>
            <a:srgbClr val="22425F"/>
          </a:solidFill>
          <a:ln/>
        </p:spPr>
      </p:sp>
      <p:sp>
        <p:nvSpPr>
          <p:cNvPr id="32" name="Text 30"/>
          <p:cNvSpPr/>
          <p:nvPr/>
        </p:nvSpPr>
        <p:spPr>
          <a:xfrm>
            <a:off x="6912864" y="413308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 Shiji / Yanolja</a:t>
            </a:r>
            <a:endParaRPr lang="en-US" sz="9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アジア地盤で日本に近接しています（小樽実績/InnKey買収。食事が販売室数を決める点は未対応）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5120640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21208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資本動向 2025-26 — 市場は「AIに書き込み権限を渡し自動反映」へ加速しています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04688"/>
            <a:ext cx="2157984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504688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" y="557784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Mews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D $300M / 評価$2.5B（26/1）業界最大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0" y="5504688"/>
            <a:ext cx="2157984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5504688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2871216" y="557784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Cloudbeds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累計$253M・25末黒字化見込／Signals=需要の因果を読むAIを標榜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83480" y="5504688"/>
            <a:ext cx="2157984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5504688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3" name="Text 41"/>
          <p:cNvSpPr/>
          <p:nvPr/>
        </p:nvSpPr>
        <p:spPr>
          <a:xfrm>
            <a:off x="5111496" y="557784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ゲスト接点AI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Canary$80M・PolyAI$86M・Duve$60M（25）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23760" y="5504688"/>
            <a:ext cx="2157984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5504688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6" name="Text 44"/>
          <p:cNvSpPr/>
          <p:nvPr/>
        </p:nvSpPr>
        <p:spPr>
          <a:xfrm>
            <a:off x="7351776" y="557784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料金最適化の再編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FLYR$295M・Lighthouse累計$370M／基幹システムが料金最適化を買収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4040" y="5504688"/>
            <a:ext cx="2157984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64040" y="5504688"/>
            <a:ext cx="45720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9" name="Text 47"/>
          <p:cNvSpPr/>
          <p:nvPr/>
        </p:nvSpPr>
        <p:spPr>
          <a:xfrm>
            <a:off x="9592056" y="557784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楽天=ねっぱん統合(26/1)・tripla25.7億(+37.8%)・星野FleBOL18億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" y="629107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競合分析v2（162社・公開情報 2026/5）。承認後書き込み × 需要の因果 × 旅館の食事が販売室数を決める“第2象限”は国内外で空白です。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 ｜ 主要プレイヤー徹底分析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資本は『自律実行する大手OS』と『ゲスト接点AI』に集中、旅館オペ統制は空白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1168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481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社名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481328"/>
            <a:ext cx="132588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1" name="Text 9"/>
          <p:cNvSpPr/>
          <p:nvPr/>
        </p:nvSpPr>
        <p:spPr>
          <a:xfrm>
            <a:off x="2569464" y="1481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0" y="1481328"/>
            <a:ext cx="141732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3" name="Text 11"/>
          <p:cNvSpPr/>
          <p:nvPr/>
        </p:nvSpPr>
        <p:spPr>
          <a:xfrm>
            <a:off x="3895344" y="14813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基幹システム関係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7800" y="1481328"/>
            <a:ext cx="169164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5" name="Text 13"/>
          <p:cNvSpPr/>
          <p:nvPr/>
        </p:nvSpPr>
        <p:spPr>
          <a:xfrm>
            <a:off x="5312664" y="14813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規模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49440" y="1481328"/>
            <a:ext cx="370332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7" name="Text 15"/>
          <p:cNvSpPr/>
          <p:nvPr/>
        </p:nvSpPr>
        <p:spPr>
          <a:xfrm>
            <a:off x="7004304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直近の資金・動向（2024–26）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652760" y="1481328"/>
            <a:ext cx="777240" cy="310896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707624" y="14813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7784" y="179222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Mews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569464" y="1792224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L1 OS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895344" y="179222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312664" y="1792224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1.25万物件超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004304" y="1792224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D $300M・評価$2.5B＝業界最大、自律運営AIを標榜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0707624" y="1792224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26/1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2071116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2071116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" y="207111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Cloudbeds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569464" y="2071116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L1 OS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895344" y="207111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312664" y="2071116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2万物件級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004304" y="2071116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基盤AI『Signals』で需要の因果を訴求、25末黒字化見込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0707624" y="2071116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" y="2350008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" y="235000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Oracle OPERA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569464" y="2350008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L1 PMS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3895344" y="235000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312664" y="2350008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首位級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004304" y="2350008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エンタープライズ標準にAI内蔵（OPERA Cloud）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0707624" y="2350008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2628900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2628900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" y="262890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SiteMinder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569464" y="2628900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L2 流通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895344" y="262890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312664" y="2628900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50,100施設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004304" y="2628900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流通プラットフォーム、FY25黒字化（+12.6%）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0707624" y="2628900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02920" y="2907792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50" name="Text 48"/>
          <p:cNvSpPr/>
          <p:nvPr/>
        </p:nvSpPr>
        <p:spPr>
          <a:xfrm>
            <a:off x="557784" y="290779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Lighthouse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2569464" y="2907792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L2 価格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3895344" y="290779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5312664" y="2907792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7万件超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7004304" y="2907792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C $370M・評価$1B（KKR）でユニコーン化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10707624" y="2907792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24/11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02920" y="3186684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57" name="Shape 55"/>
          <p:cNvSpPr/>
          <p:nvPr/>
        </p:nvSpPr>
        <p:spPr>
          <a:xfrm>
            <a:off x="502920" y="3186684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18668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IDeaS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2569464" y="3186684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L2 価格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3895344" y="318668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5312664" y="3186684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Accor 5,000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7004304" y="3186684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老舗RMS、Accor全社展開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10707624" y="3186684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02920" y="3465576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5" name="Text 63"/>
          <p:cNvSpPr/>
          <p:nvPr/>
        </p:nvSpPr>
        <p:spPr>
          <a:xfrm>
            <a:off x="557784" y="346557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RateGain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2569464" y="3465576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L2 価格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3895344" y="346557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5312664" y="3465576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上場(印)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7004304" y="3465576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Sojern買収 $250M でAIマーケ統合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10707624" y="3465576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25/11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02920" y="3744468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" y="3744468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3" name="Text 71"/>
          <p:cNvSpPr/>
          <p:nvPr/>
        </p:nvSpPr>
        <p:spPr>
          <a:xfrm>
            <a:off x="557784" y="374446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Canary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2569464" y="3744468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L3 接点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3895344" y="374446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5312664" y="3744468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2万ホテル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7004304" y="3744468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D $80M・評価$600M、音声/Webチャット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10707624" y="3744468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25/6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02920" y="4023360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80" name="Text 78"/>
          <p:cNvSpPr/>
          <p:nvPr/>
        </p:nvSpPr>
        <p:spPr>
          <a:xfrm>
            <a:off x="557784" y="402336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Duve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2569464" y="4023360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L3 接点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3895344" y="402336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5312664" y="4023360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7004304" y="4023360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B $60M、PMS直結エージェントへ拡張</a:t>
            </a: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10707624" y="4023360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25/12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02920" y="4302252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87" name="Shape 85"/>
          <p:cNvSpPr/>
          <p:nvPr/>
        </p:nvSpPr>
        <p:spPr>
          <a:xfrm>
            <a:off x="502920" y="4302252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8" name="Text 86"/>
          <p:cNvSpPr/>
          <p:nvPr/>
        </p:nvSpPr>
        <p:spPr>
          <a:xfrm>
            <a:off x="557784" y="430225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PolyAI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2569464" y="4302252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L3 音声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3895344" y="430225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5312664" y="4302252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7004304" y="4302252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Series D $86M・評価$750M（NVIDIA出資）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10707624" y="4302252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25/12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02920" y="4581144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95" name="Text 93"/>
          <p:cNvSpPr/>
          <p:nvPr/>
        </p:nvSpPr>
        <p:spPr>
          <a:xfrm>
            <a:off x="557784" y="458114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Agentic Hosp.（TravelOS）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2569464" y="4581144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L4 MCP</a:t>
            </a:r>
            <a:endParaRPr lang="en-US" sz="780" dirty="0"/>
          </a:p>
        </p:txBody>
      </p:sp>
      <p:sp>
        <p:nvSpPr>
          <p:cNvPr id="97" name="Text 95"/>
          <p:cNvSpPr/>
          <p:nvPr/>
        </p:nvSpPr>
        <p:spPr>
          <a:xfrm>
            <a:off x="3895344" y="458114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共存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5312664" y="4581144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新興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7004304" y="4581144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MCP軸の上位ガバナンス層を標榜（唯一格）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10707624" y="4581144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25/8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02920" y="4860036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02920" y="4860036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3" name="Text 101"/>
          <p:cNvSpPr/>
          <p:nvPr/>
        </p:nvSpPr>
        <p:spPr>
          <a:xfrm>
            <a:off x="557784" y="486003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tripla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2569464" y="4860036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L3 接点(日)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3895344" y="486003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5312664" y="4860036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10,084施設</a:t>
            </a:r>
            <a:endParaRPr lang="en-US" sz="780" dirty="0"/>
          </a:p>
        </p:txBody>
      </p:sp>
      <p:sp>
        <p:nvSpPr>
          <p:cNvPr id="107" name="Text 105"/>
          <p:cNvSpPr/>
          <p:nvPr/>
        </p:nvSpPr>
        <p:spPr>
          <a:xfrm>
            <a:off x="7004304" y="4860036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東証上場、FY25 営業収益25.7億円・黒字</a:t>
            </a:r>
            <a:endParaRPr lang="en-US" sz="780" dirty="0"/>
          </a:p>
        </p:txBody>
      </p:sp>
      <p:sp>
        <p:nvSpPr>
          <p:cNvPr id="108" name="Text 106"/>
          <p:cNvSpPr/>
          <p:nvPr/>
        </p:nvSpPr>
        <p:spPr>
          <a:xfrm>
            <a:off x="10707624" y="4860036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25/12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02920" y="5138928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10" name="Text 108"/>
          <p:cNvSpPr/>
          <p:nvPr/>
        </p:nvSpPr>
        <p:spPr>
          <a:xfrm>
            <a:off x="557784" y="513892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talkappi</a:t>
            </a:r>
            <a:endParaRPr lang="en-US" sz="780" dirty="0"/>
          </a:p>
        </p:txBody>
      </p:sp>
      <p:sp>
        <p:nvSpPr>
          <p:cNvPr id="111" name="Text 109"/>
          <p:cNvSpPr/>
          <p:nvPr/>
        </p:nvSpPr>
        <p:spPr>
          <a:xfrm>
            <a:off x="2569464" y="5138928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L3 接点(日)</a:t>
            </a:r>
            <a:endParaRPr lang="en-US" sz="780" dirty="0"/>
          </a:p>
        </p:txBody>
      </p:sp>
      <p:sp>
        <p:nvSpPr>
          <p:cNvPr id="112" name="Text 110"/>
          <p:cNvSpPr/>
          <p:nvPr/>
        </p:nvSpPr>
        <p:spPr>
          <a:xfrm>
            <a:off x="3895344" y="513892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80" dirty="0"/>
          </a:p>
        </p:txBody>
      </p:sp>
      <p:sp>
        <p:nvSpPr>
          <p:cNvPr id="113" name="Text 111"/>
          <p:cNvSpPr/>
          <p:nvPr/>
        </p:nvSpPr>
        <p:spPr>
          <a:xfrm>
            <a:off x="5312664" y="5138928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1,500施設超</a:t>
            </a:r>
            <a:endParaRPr lang="en-US" sz="780" dirty="0"/>
          </a:p>
        </p:txBody>
      </p:sp>
      <p:sp>
        <p:nvSpPr>
          <p:cNvPr id="114" name="Text 112"/>
          <p:cNvSpPr/>
          <p:nvPr/>
        </p:nvSpPr>
        <p:spPr>
          <a:xfrm>
            <a:off x="7004304" y="5138928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旅館・観光特化、最大109言語</a:t>
            </a:r>
            <a:endParaRPr lang="en-US" sz="780" dirty="0"/>
          </a:p>
        </p:txBody>
      </p:sp>
      <p:sp>
        <p:nvSpPr>
          <p:cNvPr id="115" name="Text 113"/>
          <p:cNvSpPr/>
          <p:nvPr/>
        </p:nvSpPr>
        <p:spPr>
          <a:xfrm>
            <a:off x="10707624" y="5138928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25/6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02920" y="5417820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02920" y="5417820"/>
            <a:ext cx="10972800" cy="2788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8" name="Text 116"/>
          <p:cNvSpPr/>
          <p:nvPr/>
        </p:nvSpPr>
        <p:spPr>
          <a:xfrm>
            <a:off x="557784" y="541782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陣屋コネクト</a:t>
            </a:r>
            <a:endParaRPr lang="en-US" sz="780" dirty="0"/>
          </a:p>
        </p:txBody>
      </p:sp>
      <p:sp>
        <p:nvSpPr>
          <p:cNvPr id="119" name="Text 117"/>
          <p:cNvSpPr/>
          <p:nvPr/>
        </p:nvSpPr>
        <p:spPr>
          <a:xfrm>
            <a:off x="2569464" y="5417820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L1 PMS(日)</a:t>
            </a:r>
            <a:endParaRPr lang="en-US" sz="780" dirty="0"/>
          </a:p>
        </p:txBody>
      </p:sp>
      <p:sp>
        <p:nvSpPr>
          <p:cNvPr id="120" name="Text 118"/>
          <p:cNvSpPr/>
          <p:nvPr/>
        </p:nvSpPr>
        <p:spPr>
          <a:xfrm>
            <a:off x="3895344" y="541782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</a:t>
            </a:r>
            <a:endParaRPr lang="en-US" sz="780" dirty="0"/>
          </a:p>
        </p:txBody>
      </p:sp>
      <p:sp>
        <p:nvSpPr>
          <p:cNvPr id="121" name="Text 119"/>
          <p:cNvSpPr/>
          <p:nvPr/>
        </p:nvSpPr>
        <p:spPr>
          <a:xfrm>
            <a:off x="5312664" y="5417820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600施設超</a:t>
            </a:r>
            <a:endParaRPr lang="en-US" sz="780" dirty="0"/>
          </a:p>
        </p:txBody>
      </p:sp>
      <p:sp>
        <p:nvSpPr>
          <p:cNvPr id="122" name="Text 120"/>
          <p:cNvSpPr/>
          <p:nvPr/>
        </p:nvSpPr>
        <p:spPr>
          <a:xfrm>
            <a:off x="7004304" y="5417820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旅館発PMS、厨房・配膳に強い</a:t>
            </a:r>
            <a:endParaRPr lang="en-US" sz="780" dirty="0"/>
          </a:p>
        </p:txBody>
      </p:sp>
      <p:sp>
        <p:nvSpPr>
          <p:cNvPr id="123" name="Text 121"/>
          <p:cNvSpPr/>
          <p:nvPr/>
        </p:nvSpPr>
        <p:spPr>
          <a:xfrm>
            <a:off x="10707624" y="5417820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02920" y="5696712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25" name="Text 123"/>
          <p:cNvSpPr/>
          <p:nvPr/>
        </p:nvSpPr>
        <p:spPr>
          <a:xfrm>
            <a:off x="557784" y="569671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星野FleBOL/Karakami</a:t>
            </a:r>
            <a:endParaRPr lang="en-US" sz="780" dirty="0"/>
          </a:p>
        </p:txBody>
      </p:sp>
      <p:sp>
        <p:nvSpPr>
          <p:cNvPr id="126" name="Text 124"/>
          <p:cNvSpPr/>
          <p:nvPr/>
        </p:nvSpPr>
        <p:spPr>
          <a:xfrm>
            <a:off x="2569464" y="5696712"/>
            <a:ext cx="1234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L5 運用(日)</a:t>
            </a:r>
            <a:endParaRPr lang="en-US" sz="780" dirty="0"/>
          </a:p>
        </p:txBody>
      </p:sp>
      <p:sp>
        <p:nvSpPr>
          <p:cNvPr id="127" name="Text 125"/>
          <p:cNvSpPr/>
          <p:nvPr/>
        </p:nvSpPr>
        <p:spPr>
          <a:xfrm>
            <a:off x="3895344" y="569671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内製</a:t>
            </a:r>
            <a:endParaRPr lang="en-US" sz="780" dirty="0"/>
          </a:p>
        </p:txBody>
      </p:sp>
      <p:sp>
        <p:nvSpPr>
          <p:cNvPr id="128" name="Text 126"/>
          <p:cNvSpPr/>
          <p:nvPr/>
        </p:nvSpPr>
        <p:spPr>
          <a:xfrm>
            <a:off x="5312664" y="5696712"/>
            <a:ext cx="1600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自社運営</a:t>
            </a:r>
            <a:endParaRPr lang="en-US" sz="780" dirty="0"/>
          </a:p>
        </p:txBody>
      </p:sp>
      <p:sp>
        <p:nvSpPr>
          <p:cNvPr id="129" name="Text 127"/>
          <p:cNvSpPr/>
          <p:nvPr/>
        </p:nvSpPr>
        <p:spPr>
          <a:xfrm>
            <a:off x="7004304" y="5696712"/>
            <a:ext cx="3611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1A23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次世代agentic（食事・体験込み予約／AIロールアップ）</a:t>
            </a:r>
            <a:endParaRPr lang="en-US" sz="780" dirty="0"/>
          </a:p>
        </p:txBody>
      </p:sp>
      <p:sp>
        <p:nvSpPr>
          <p:cNvPr id="130" name="Text 128"/>
          <p:cNvSpPr/>
          <p:nvPr/>
        </p:nvSpPr>
        <p:spPr>
          <a:xfrm>
            <a:off x="10707624" y="5696712"/>
            <a:ext cx="685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502920" y="5975604"/>
            <a:ext cx="10972800" cy="5486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132" name="Text 130"/>
          <p:cNvSpPr/>
          <p:nvPr/>
        </p:nvSpPr>
        <p:spPr>
          <a:xfrm>
            <a:off x="502920" y="6030468"/>
            <a:ext cx="11183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層: L1 基幹/OS ・ L2 価格/流通 ・ L3 ゲスト接点 ・ L4 上位AI/連携統制 ・ L5 運用AI。赤字の出典＝一次ソースで金額・規模を検証済（2024-26）。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502920" y="6213348"/>
            <a:ext cx="11183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観察: 大型資本はL1（Mews/Cloudbeds＝置換型OS）とL3（Canary/Duve/PolyAI＝ゲスト接点）に集中。旅館オペ統制(L5)を外販する専業は不在＝我々の白地。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45720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 ｜ 機能比較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6949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5本柱をまとめて担うのは自社のみ — 主要14社 × 8機能の総点検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83112" cy="12802"/>
          </a:xfrm>
          <a:prstGeom prst="rect">
            <a:avLst/>
          </a:prstGeom>
          <a:solidFill>
            <a:srgbClr val="DCE2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旅館の運営を支えるシステム — 提案資料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26664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026664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30168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33672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5" name="Text 13"/>
          <p:cNvSpPr/>
          <p:nvPr/>
        </p:nvSpPr>
        <p:spPr>
          <a:xfrm>
            <a:off x="4233672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37176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7" name="Text 15"/>
          <p:cNvSpPr/>
          <p:nvPr/>
        </p:nvSpPr>
        <p:spPr>
          <a:xfrm>
            <a:off x="4837176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置換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44184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6044184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連携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47688" y="1627632"/>
            <a:ext cx="603504" cy="365760"/>
          </a:xfrm>
          <a:prstGeom prst="rect">
            <a:avLst/>
          </a:prstGeom>
          <a:solidFill>
            <a:srgbClr val="1428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1645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199339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陣屋コネクト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23160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26664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26664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30168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33672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33672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37176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44184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44184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47688" y="19933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1993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226771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aipass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423160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3160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26664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26664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0168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33672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33672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37176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40680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0680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44184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44184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47688" y="22677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47688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254203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星野 FleBOL（内製）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23160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026664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26664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30168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30168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233672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3672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37176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37176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440680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40680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044184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44184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647688" y="25420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47688" y="2542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02920" y="281635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" y="2816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メトロエンジン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423160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23160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026664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26664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30168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30168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233672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33672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837176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37176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440680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40680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044184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44184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47688" y="28163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47688" y="28163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02920" y="309067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6072" y="30906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tripla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423160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23160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026664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26664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630168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30168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233672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33672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837176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37176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440680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40680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044184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44184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647688" y="30906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647688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02920" y="336499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76072" y="33649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talkappi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2423160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423160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026664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026664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3630168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630168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233672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33672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837176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837176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5440680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440680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6044184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044184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647688" y="33649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647688" y="33649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502920" y="363931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76072" y="36393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Mews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423160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423160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026664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026664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630168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30168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4233672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233672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4837176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837176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5440680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440680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6044184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044184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6647688" y="36393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647688" y="36393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502920" y="391363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76072" y="3913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Cloudbeds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2423160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423160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3026664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026664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3630168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630168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4233672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233672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4837176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837176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5440680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440680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6044184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044184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6647688" y="39136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47688" y="39136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502920" y="418795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76072" y="4187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Apaleo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2423160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23160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3026664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026664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3630168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630168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4233672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233672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4837176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837176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5440680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440680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6044184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044184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6647688" y="41879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647688" y="4187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502920" y="446227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76072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Oracle OPERA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2423160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423160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3026664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026664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3630168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630168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4233672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233672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4837176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837176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5440680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440680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6044184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044184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6647688" y="446227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647688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502920" y="473659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76072" y="47365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Shiji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2423160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2423160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08" name="Shape 206"/>
          <p:cNvSpPr/>
          <p:nvPr/>
        </p:nvSpPr>
        <p:spPr>
          <a:xfrm>
            <a:off x="3026664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026664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3630168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3630168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12" name="Shape 210"/>
          <p:cNvSpPr/>
          <p:nvPr/>
        </p:nvSpPr>
        <p:spPr>
          <a:xfrm>
            <a:off x="4233672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233672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14" name="Shape 212"/>
          <p:cNvSpPr/>
          <p:nvPr/>
        </p:nvSpPr>
        <p:spPr>
          <a:xfrm>
            <a:off x="4837176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837176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16" name="Shape 214"/>
          <p:cNvSpPr/>
          <p:nvPr/>
        </p:nvSpPr>
        <p:spPr>
          <a:xfrm>
            <a:off x="5440680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440680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18" name="Shape 216"/>
          <p:cNvSpPr/>
          <p:nvPr/>
        </p:nvSpPr>
        <p:spPr>
          <a:xfrm>
            <a:off x="6044184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044184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20" name="Shape 218"/>
          <p:cNvSpPr/>
          <p:nvPr/>
        </p:nvSpPr>
        <p:spPr>
          <a:xfrm>
            <a:off x="6647688" y="473659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647688" y="47365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22" name="Shape 220"/>
          <p:cNvSpPr/>
          <p:nvPr/>
        </p:nvSpPr>
        <p:spPr>
          <a:xfrm>
            <a:off x="502920" y="501091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76072" y="50109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Lighthouse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2423160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2423160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26" name="Shape 224"/>
          <p:cNvSpPr/>
          <p:nvPr/>
        </p:nvSpPr>
        <p:spPr>
          <a:xfrm>
            <a:off x="3026664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3026664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28" name="Shape 226"/>
          <p:cNvSpPr/>
          <p:nvPr/>
        </p:nvSpPr>
        <p:spPr>
          <a:xfrm>
            <a:off x="3630168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3630168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30" name="Shape 228"/>
          <p:cNvSpPr/>
          <p:nvPr/>
        </p:nvSpPr>
        <p:spPr>
          <a:xfrm>
            <a:off x="4233672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4233672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32" name="Shape 230"/>
          <p:cNvSpPr/>
          <p:nvPr/>
        </p:nvSpPr>
        <p:spPr>
          <a:xfrm>
            <a:off x="4837176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837176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34" name="Shape 232"/>
          <p:cNvSpPr/>
          <p:nvPr/>
        </p:nvSpPr>
        <p:spPr>
          <a:xfrm>
            <a:off x="5440680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440680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36" name="Shape 234"/>
          <p:cNvSpPr/>
          <p:nvPr/>
        </p:nvSpPr>
        <p:spPr>
          <a:xfrm>
            <a:off x="6044184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44184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38" name="Shape 236"/>
          <p:cNvSpPr/>
          <p:nvPr/>
        </p:nvSpPr>
        <p:spPr>
          <a:xfrm>
            <a:off x="6647688" y="501091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647688" y="5010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40" name="Shape 238"/>
          <p:cNvSpPr/>
          <p:nvPr/>
        </p:nvSpPr>
        <p:spPr>
          <a:xfrm>
            <a:off x="502920" y="528523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76072" y="52852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Canary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2423160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423160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44" name="Shape 242"/>
          <p:cNvSpPr/>
          <p:nvPr/>
        </p:nvSpPr>
        <p:spPr>
          <a:xfrm>
            <a:off x="3026664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026664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>
            <a:off x="3630168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630168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48" name="Shape 246"/>
          <p:cNvSpPr/>
          <p:nvPr/>
        </p:nvSpPr>
        <p:spPr>
          <a:xfrm>
            <a:off x="4233672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233672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50" name="Shape 248"/>
          <p:cNvSpPr/>
          <p:nvPr/>
        </p:nvSpPr>
        <p:spPr>
          <a:xfrm>
            <a:off x="4837176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837176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52" name="Shape 250"/>
          <p:cNvSpPr/>
          <p:nvPr/>
        </p:nvSpPr>
        <p:spPr>
          <a:xfrm>
            <a:off x="5440680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440680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6044184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044184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56" name="Shape 254"/>
          <p:cNvSpPr/>
          <p:nvPr/>
        </p:nvSpPr>
        <p:spPr>
          <a:xfrm>
            <a:off x="6647688" y="528523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647688" y="5285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58" name="Shape 256"/>
          <p:cNvSpPr/>
          <p:nvPr/>
        </p:nvSpPr>
        <p:spPr>
          <a:xfrm>
            <a:off x="502920" y="5559552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76072" y="55595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Agentic Hospitality</a:t>
            </a:r>
            <a:endParaRPr lang="en-US" sz="850" dirty="0"/>
          </a:p>
        </p:txBody>
      </p:sp>
      <p:sp>
        <p:nvSpPr>
          <p:cNvPr id="260" name="Shape 258"/>
          <p:cNvSpPr/>
          <p:nvPr/>
        </p:nvSpPr>
        <p:spPr>
          <a:xfrm>
            <a:off x="2423160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2423160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62" name="Shape 260"/>
          <p:cNvSpPr/>
          <p:nvPr/>
        </p:nvSpPr>
        <p:spPr>
          <a:xfrm>
            <a:off x="3026664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026664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000" dirty="0"/>
          </a:p>
        </p:txBody>
      </p:sp>
      <p:sp>
        <p:nvSpPr>
          <p:cNvPr id="264" name="Shape 262"/>
          <p:cNvSpPr/>
          <p:nvPr/>
        </p:nvSpPr>
        <p:spPr>
          <a:xfrm>
            <a:off x="3630168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3630168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66" name="Shape 264"/>
          <p:cNvSpPr/>
          <p:nvPr/>
        </p:nvSpPr>
        <p:spPr>
          <a:xfrm>
            <a:off x="4233672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233672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4837176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837176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70" name="Shape 268"/>
          <p:cNvSpPr/>
          <p:nvPr/>
        </p:nvSpPr>
        <p:spPr>
          <a:xfrm>
            <a:off x="5440680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440680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72" name="Shape 270"/>
          <p:cNvSpPr/>
          <p:nvPr/>
        </p:nvSpPr>
        <p:spPr>
          <a:xfrm>
            <a:off x="6044184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6044184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74" name="Shape 272"/>
          <p:cNvSpPr/>
          <p:nvPr/>
        </p:nvSpPr>
        <p:spPr>
          <a:xfrm>
            <a:off x="6647688" y="5559552"/>
            <a:ext cx="6035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6647688" y="55595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1000" dirty="0"/>
          </a:p>
        </p:txBody>
      </p:sp>
      <p:sp>
        <p:nvSpPr>
          <p:cNvPr id="276" name="Shape 274"/>
          <p:cNvSpPr/>
          <p:nvPr/>
        </p:nvSpPr>
        <p:spPr>
          <a:xfrm>
            <a:off x="502920" y="5833872"/>
            <a:ext cx="1920240" cy="274320"/>
          </a:xfrm>
          <a:prstGeom prst="rect">
            <a:avLst/>
          </a:prstGeom>
          <a:solidFill>
            <a:srgbClr val="C8102E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76072" y="58338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自社</a:t>
            </a:r>
            <a:endParaRPr lang="en-US" sz="850" dirty="0"/>
          </a:p>
        </p:txBody>
      </p:sp>
      <p:sp>
        <p:nvSpPr>
          <p:cNvPr id="278" name="Shape 276"/>
          <p:cNvSpPr/>
          <p:nvPr/>
        </p:nvSpPr>
        <p:spPr>
          <a:xfrm>
            <a:off x="2423160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2423160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80" name="Shape 278"/>
          <p:cNvSpPr/>
          <p:nvPr/>
        </p:nvSpPr>
        <p:spPr>
          <a:xfrm>
            <a:off x="3026664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3026664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82" name="Shape 280"/>
          <p:cNvSpPr/>
          <p:nvPr/>
        </p:nvSpPr>
        <p:spPr>
          <a:xfrm>
            <a:off x="3630168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630168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84" name="Shape 282"/>
          <p:cNvSpPr/>
          <p:nvPr/>
        </p:nvSpPr>
        <p:spPr>
          <a:xfrm>
            <a:off x="4233672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233672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86" name="Shape 284"/>
          <p:cNvSpPr/>
          <p:nvPr/>
        </p:nvSpPr>
        <p:spPr>
          <a:xfrm>
            <a:off x="4837176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837176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88" name="Shape 286"/>
          <p:cNvSpPr/>
          <p:nvPr/>
        </p:nvSpPr>
        <p:spPr>
          <a:xfrm>
            <a:off x="5440680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440680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90" name="Shape 288"/>
          <p:cNvSpPr/>
          <p:nvPr/>
        </p:nvSpPr>
        <p:spPr>
          <a:xfrm>
            <a:off x="6044184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6044184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92" name="Shape 290"/>
          <p:cNvSpPr/>
          <p:nvPr/>
        </p:nvSpPr>
        <p:spPr>
          <a:xfrm>
            <a:off x="6647688" y="5833872"/>
            <a:ext cx="603504" cy="274320"/>
          </a:xfrm>
          <a:prstGeom prst="rect">
            <a:avLst/>
          </a:prstGeom>
          <a:solidFill>
            <a:srgbClr val="FBE9EC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6647688" y="58338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94" name="Shape 292"/>
          <p:cNvSpPr/>
          <p:nvPr/>
        </p:nvSpPr>
        <p:spPr>
          <a:xfrm>
            <a:off x="7543800" y="1627632"/>
            <a:ext cx="54864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5" name="Text 293"/>
          <p:cNvSpPr/>
          <p:nvPr/>
        </p:nvSpPr>
        <p:spPr>
          <a:xfrm>
            <a:off x="7690104" y="162763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空白＝我々の独占域</a:t>
            </a:r>
            <a:endParaRPr lang="en-US" sz="1200" dirty="0"/>
          </a:p>
        </p:txBody>
      </p:sp>
      <p:sp>
        <p:nvSpPr>
          <p:cNvPr id="296" name="Shape 294"/>
          <p:cNvSpPr/>
          <p:nvPr/>
        </p:nvSpPr>
        <p:spPr>
          <a:xfrm>
            <a:off x="7543800" y="2011680"/>
            <a:ext cx="4572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7" name="Text 295"/>
          <p:cNvSpPr/>
          <p:nvPr/>
        </p:nvSpPr>
        <p:spPr>
          <a:xfrm>
            <a:off x="7671816" y="201168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承認の仕組み＋改ざんできない記録（①②）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業界は書き込みを自動反映へ進んでいます。承認後だけ書き込む仕組み（下書き→検証→人間承認→反映）を製品化した旅館特化の会社は皆無です。</a:t>
            </a:r>
            <a:endParaRPr lang="en-US" sz="900" dirty="0"/>
          </a:p>
        </p:txBody>
      </p:sp>
      <p:sp>
        <p:nvSpPr>
          <p:cNvPr id="298" name="Shape 296"/>
          <p:cNvSpPr/>
          <p:nvPr/>
        </p:nvSpPr>
        <p:spPr>
          <a:xfrm>
            <a:off x="7543800" y="2944368"/>
            <a:ext cx="4572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9" name="Text 297"/>
          <p:cNvSpPr/>
          <p:nvPr/>
        </p:nvSpPr>
        <p:spPr>
          <a:xfrm>
            <a:off x="7671816" y="2944368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観光の話題×経済統計の“因果”先読み（③）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全社が相関・統計予測どまりです。外部データの因果で 3-6ヶ月先 を読む製品はゼロです。</a:t>
            </a:r>
            <a:endParaRPr lang="en-US" sz="900" dirty="0"/>
          </a:p>
        </p:txBody>
      </p:sp>
      <p:sp>
        <p:nvSpPr>
          <p:cNvPr id="300" name="Shape 298"/>
          <p:cNvSpPr/>
          <p:nvPr/>
        </p:nvSpPr>
        <p:spPr>
          <a:xfrm>
            <a:off x="7543800" y="3877056"/>
            <a:ext cx="4572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1" name="Text 299"/>
          <p:cNvSpPr/>
          <p:nvPr/>
        </p:nvSpPr>
        <p:spPr>
          <a:xfrm>
            <a:off x="7671816" y="3877056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旅館の食事（会席）が販売室数を決める（④）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世界中の基幹システム・料金最適化が客室在庫前提です。会席の提供能力・人泊2食・配膳をもとに販売室数を決める製品は不在です。</a:t>
            </a:r>
            <a:endParaRPr lang="en-US" sz="900" dirty="0"/>
          </a:p>
        </p:txBody>
      </p:sp>
      <p:sp>
        <p:nvSpPr>
          <p:cNvPr id="302" name="Shape 300"/>
          <p:cNvSpPr/>
          <p:nvPr/>
        </p:nvSpPr>
        <p:spPr>
          <a:xfrm>
            <a:off x="7543800" y="4937760"/>
            <a:ext cx="4142232" cy="786384"/>
          </a:xfrm>
          <a:prstGeom prst="rect">
            <a:avLst/>
          </a:prstGeom>
          <a:solidFill>
            <a:srgbClr val="ECF2F8"/>
          </a:solidFill>
          <a:ln w="12700">
            <a:solidFill>
              <a:srgbClr val="DCE2E9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7653528" y="5029200"/>
            <a:ext cx="3922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▸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428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片鱗を持つ社はいても、5本柱をまとめて束ねた製品は皆無です。模倣には旅館業務の深い理解が要り、参入障壁になります。</a:t>
            </a:r>
            <a:endParaRPr lang="en-US" sz="950" dirty="0"/>
          </a:p>
        </p:txBody>
      </p:sp>
      <p:sp>
        <p:nvSpPr>
          <p:cNvPr id="304" name="Text 302"/>
          <p:cNvSpPr/>
          <p:nvPr/>
        </p:nvSpPr>
        <p:spPr>
          <a:xfrm>
            <a:off x="502920" y="616305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88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凡例: ✓対応 / △部分・片鱗 / ✗非対応　　①元データの正しさを守る（置換せず承認後だけ書き込む） ②承認の仕組み・操作記録 ③需要を因果で先読み ④旅館の食事が販売室数を決める ⑤全役割モバイル</a:t>
            </a:r>
            <a:endParaRPr lang="en-US" sz="800" dirty="0"/>
          </a:p>
        </p:txBody>
      </p:sp>
      <p:sp>
        <p:nvSpPr>
          <p:cNvPr id="305" name="Text 303"/>
          <p:cNvSpPr/>
          <p:nvPr/>
        </p:nvSpPr>
        <p:spPr>
          <a:xfrm>
            <a:off x="502920" y="641908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AAB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競合分析v2（162社調査・公開情報 2026/5）。評価は公開情報ベースの相対比較です。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2026-05-31T10:20:16Z</dcterms:created>
  <dcterms:modified xsi:type="dcterms:W3CDTF">2026-05-31T10:20:16Z</dcterms:modified>
</cp:coreProperties>
</file>